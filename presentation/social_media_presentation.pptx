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1E3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1E3C"/>
                </a:solidFill>
                <a:latin typeface="Arial"/>
              </a:rPr>
              <a:t>Avg Engagement Rate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Engagement Rate</c:v>
                </c:pt>
              </c:strCache>
            </c:strRef>
          </c:tx>
          <c:spPr>
            <a:solidFill>
              <a:srgbClr val="16A08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08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980B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E44A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TikTok</c:v>
                  </c:pt>
                  <c:pt idx="1">
                    <c:v>Instagram</c:v>
                  </c:pt>
                  <c:pt idx="2">
                    <c:v>YouTube</c:v>
                  </c:pt>
                  <c:pt idx="3">
                    <c:v>Twitter</c:v>
                  </c:pt>
                  <c:pt idx="4">
                    <c:v>Facebook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4.82</c:v>
                </c:pt>
                <c:pt idx="1">
                  <c:v>4.71</c:v>
                </c:pt>
                <c:pt idx="2">
                  <c:v>4.68</c:v>
                </c:pt>
                <c:pt idx="3">
                  <c:v>4.65</c:v>
                </c:pt>
                <c:pt idx="4">
                  <c:v>4.61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1E3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1E3C"/>
                </a:solidFill>
                <a:latin typeface="Arial"/>
              </a:rPr>
              <a:t>Content Type Engagement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Engagement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08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980B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E44A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Video</c:v>
                  </c:pt>
                  <c:pt idx="1">
                    <c:v>Reel</c:v>
                  </c:pt>
                  <c:pt idx="2">
                    <c:v>Story</c:v>
                  </c:pt>
                  <c:pt idx="3">
                    <c:v>Image</c:v>
                  </c:pt>
                  <c:pt idx="4">
                    <c:v>Poll</c:v>
                  </c:pt>
                  <c:pt idx="5">
                    <c:v>Text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5.1</c:v>
                </c:pt>
                <c:pt idx="1">
                  <c:v>4.9</c:v>
                </c:pt>
                <c:pt idx="2">
                  <c:v>4.8</c:v>
                </c:pt>
                <c:pt idx="3">
                  <c:v>4.6</c:v>
                </c:pt>
                <c:pt idx="4">
                  <c:v>4.5</c:v>
                </c:pt>
                <c:pt idx="5">
                  <c:v>4.2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1E3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1E3C"/>
                </a:solidFill>
                <a:latin typeface="Arial"/>
              </a:rPr>
              <a:t>Engagement by Hashtag Count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 Rate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0</c:v>
                  </c:pt>
                  <c:pt idx="1">
                    <c:v>1-5</c:v>
                  </c:pt>
                  <c:pt idx="2">
                    <c:v>6-10</c:v>
                  </c:pt>
                  <c:pt idx="3">
                    <c:v>11-20</c:v>
                  </c:pt>
                  <c:pt idx="4">
                    <c:v>21-30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3.8</c:v>
                </c:pt>
                <c:pt idx="1">
                  <c:v>4.4</c:v>
                </c:pt>
                <c:pt idx="2">
                  <c:v>5.1</c:v>
                </c:pt>
                <c:pt idx="3">
                  <c:v>4.7</c:v>
                </c:pt>
                <c:pt idx="4">
                  <c:v>4.2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1E3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1E3C"/>
                </a:solidFill>
                <a:latin typeface="Arial"/>
              </a:rPr>
              <a:t>Category Performance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Engagement</c:v>
                </c:pt>
              </c:strCache>
            </c:strRef>
          </c:tx>
          <c:spPr>
            <a:solidFill>
              <a:srgbClr val="16A08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Tech</c:v>
                  </c:pt>
                  <c:pt idx="1">
                    <c:v>Fitness</c:v>
                  </c:pt>
                  <c:pt idx="2">
                    <c:v>Food</c:v>
                  </c:pt>
                  <c:pt idx="3">
                    <c:v>Travel</c:v>
                  </c:pt>
                  <c:pt idx="4">
                    <c:v>Fashion</c:v>
                  </c:pt>
                  <c:pt idx="5">
                    <c:v>Education</c:v>
                  </c:pt>
                  <c:pt idx="6">
                    <c:v>Entertainment</c:v>
                  </c:pt>
                  <c:pt idx="7">
                    <c:v>Business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5.2</c:v>
                </c:pt>
                <c:pt idx="1">
                  <c:v>5</c:v>
                </c:pt>
                <c:pt idx="2">
                  <c:v>4.9</c:v>
                </c:pt>
                <c:pt idx="3">
                  <c:v>4.8</c:v>
                </c:pt>
                <c:pt idx="4">
                  <c:v>4.7</c:v>
                </c:pt>
                <c:pt idx="5">
                  <c:v>4.6</c:v>
                </c:pt>
                <c:pt idx="6">
                  <c:v>4.5</c:v>
                </c:pt>
                <c:pt idx="7">
                  <c:v>4.4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Analytics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4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Report  —  2024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09244" y="288036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244" y="28803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Instagram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6292" y="288036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6292" y="28803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Twitter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63340" y="288036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63340" y="28803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Facebook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0388" y="288036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0388" y="28803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YouTube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17436" y="288036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17436" y="28803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TikTok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3474720"/>
            <a:ext cx="1920240" cy="10058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520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2,000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94360" y="3977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D2FF"/>
                </a:solidFill>
              </a:rPr>
              <a:t>Posts Analysed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06040" y="3474720"/>
            <a:ext cx="1920240" cy="10058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3520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606040" y="3977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D2FF"/>
                </a:solidFill>
              </a:rPr>
              <a:t>Platforms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3474720"/>
            <a:ext cx="1920240" cy="10058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3520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18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617720" y="3977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D2FF"/>
                </a:solidFill>
              </a:rPr>
              <a:t>Features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29400" y="3474720"/>
            <a:ext cx="1920240" cy="10058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3520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629400" y="3977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D2FF"/>
                </a:solidFill>
              </a:rPr>
              <a:t>Visualisations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Data Analysis Portfolio  |  Python · Pandas · Matplotlib · Seaborn · Plotly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3C"/>
          </a:solidFill>
          <a:ln w="12700">
            <a:solidFill>
              <a:srgbClr val="1E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64008" cy="15544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2527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" y="1618488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2,000 social media posts across 5 platforms to uncover engagement patterns and strategic insights.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43000"/>
            <a:ext cx="64008" cy="15544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2527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19472" y="1618488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2024 dataset with 18 features including likes, comments, shares, views, hashtags, and emojis.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92608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926080"/>
            <a:ext cx="64008" cy="155448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30358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" y="3401568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Matplotlib · Seaborn · Plotly · ReportLab · Jupyter Notebook · GitHub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26080"/>
            <a:ext cx="64008" cy="1554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30358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19472" y="3401568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· 8 Visualisations · PDF Report · Interactive Dashboard · GitHub Portfolio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Metrics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06040" cy="15087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2606040" cy="731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801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2,000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9659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D2FF"/>
                </a:solidFill>
              </a:rPr>
              <a:t>Total Posts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606040" cy="15087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097280"/>
            <a:ext cx="2606040" cy="731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2801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~12.4M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00400" y="19659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D2FF"/>
                </a:solidFill>
              </a:rPr>
              <a:t>Total Views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097280"/>
            <a:ext cx="2606040" cy="15087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1097280"/>
            <a:ext cx="2606040" cy="7315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2801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TikTok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080760" y="19659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D2FF"/>
                </a:solidFill>
              </a:rPr>
              <a:t>Best Platform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2606040" cy="15087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926080"/>
            <a:ext cx="260604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1089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Video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20040" y="37947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D2FF"/>
                </a:solidFill>
              </a:rPr>
              <a:t>Best Content Type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606040" cy="15087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2926080"/>
            <a:ext cx="260604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31089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Saturday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200400" y="37947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D2FF"/>
                </a:solidFill>
              </a:rPr>
              <a:t>Best Day to Post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2926080"/>
            <a:ext cx="2606040" cy="15087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0760" y="2926080"/>
            <a:ext cx="260604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31089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6-10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080760" y="37947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D2FF"/>
                </a:solidFill>
              </a:rPr>
              <a:t>Optimal Hashtags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Performance Analysis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097280"/>
            <a:ext cx="2880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0" y="1097280"/>
            <a:ext cx="64008" cy="10515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80760" y="1143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</a:rPr>
              <a:t>#1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80760" y="14173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TikTok leads all platforms in average engagement rate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0" y="2331720"/>
            <a:ext cx="2880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0" y="2331720"/>
            <a:ext cx="64008" cy="10515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8076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</a:rPr>
              <a:t>#2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80760" y="26517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All platforms show consistent engagement between 4.6-4.9%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43600" y="3566160"/>
            <a:ext cx="2880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43600" y="3566160"/>
            <a:ext cx="64008" cy="10515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3611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</a:rPr>
              <a:t>#3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80760" y="38862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Allocate 40% of content budget to TikTok for max ROI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 &amp; Optimal Timing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42062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846320" y="1005840"/>
            <a:ext cx="3977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3C"/>
                </a:solidFill>
              </a:rPr>
              <a:t>Best Times to Post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983480" y="1600200"/>
            <a:ext cx="3611880" cy="475488"/>
          </a:xfrm>
          <a:prstGeom prst="rect">
            <a:avLst/>
          </a:prstGeom>
          <a:solidFill>
            <a:srgbClr val="F0F8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983480" y="1600200"/>
            <a:ext cx="54864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20640" y="16733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Best Day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766560" y="167335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1E3C"/>
                </a:solidFill>
              </a:rPr>
              <a:t>Saturday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83480" y="2185416"/>
            <a:ext cx="3611880" cy="475488"/>
          </a:xfrm>
          <a:prstGeom prst="rect">
            <a:avLst/>
          </a:prstGeom>
          <a:solidFill>
            <a:srgbClr val="F0F8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83480" y="2185416"/>
            <a:ext cx="54864" cy="47548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20640" y="22585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Best Hour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766560" y="225856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1E3C"/>
                </a:solidFill>
              </a:rPr>
              <a:t>17:00 - 18:00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983480" y="2770632"/>
            <a:ext cx="3611880" cy="475488"/>
          </a:xfrm>
          <a:prstGeom prst="rect">
            <a:avLst/>
          </a:prstGeom>
          <a:solidFill>
            <a:srgbClr val="F0F8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83480" y="2770632"/>
            <a:ext cx="54864" cy="47548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20640" y="284378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Best Month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766560" y="2843784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1E3C"/>
                </a:solidFill>
              </a:rPr>
              <a:t>March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983480" y="3355848"/>
            <a:ext cx="3611880" cy="475488"/>
          </a:xfrm>
          <a:prstGeom prst="rect">
            <a:avLst/>
          </a:prstGeom>
          <a:solidFill>
            <a:srgbClr val="F0F8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983480" y="3355848"/>
            <a:ext cx="54864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20640" y="3429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Worst Day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766560" y="34290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1E3C"/>
                </a:solidFill>
              </a:rPr>
              <a:t>Wednesday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983480" y="3941064"/>
            <a:ext cx="3611880" cy="475488"/>
          </a:xfrm>
          <a:prstGeom prst="rect">
            <a:avLst/>
          </a:prstGeom>
          <a:solidFill>
            <a:srgbClr val="F0F8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983480" y="3941064"/>
            <a:ext cx="54864" cy="4754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20640" y="401421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Peak Period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766560" y="4014216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1E3C"/>
                </a:solidFill>
              </a:rPr>
              <a:t>Fri-Sun Evening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Hashtags, Emojis &amp; Category Insights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42062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846320" y="1005840"/>
            <a:ext cx="3977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3C"/>
                </a:solidFill>
              </a:rPr>
              <a:t>Emoji Impact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0" y="1554480"/>
            <a:ext cx="1645920" cy="12801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0" y="1600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With Emoji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0" y="20116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+12%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858000" y="1554480"/>
            <a:ext cx="1645920" cy="1280160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858000" y="1600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 Emoji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58000" y="20116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Base</a:t>
            </a:r>
            <a:endParaRPr lang="en-US" sz="2800" dirty="0"/>
          </a:p>
        </p:txBody>
      </p:sp>
      <p:graphicFrame>
        <p:nvGraphicFramePr>
          <p:cNvPr id="13" name="Chart 1" descr=""/>
          <p:cNvGraphicFramePr/>
          <p:nvPr/>
        </p:nvGraphicFramePr>
        <p:xfrm>
          <a:off x="365760" y="3337560"/>
          <a:ext cx="841248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51760" cy="1600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51560"/>
            <a:ext cx="2651760" cy="4572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15568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11556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Platform Focus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1848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8FF"/>
                </a:solidFill>
              </a:rPr>
              <a:t>Concentrate 40% of content budget on TikTok for highest ROI.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51760" cy="1600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051560"/>
            <a:ext cx="2651760" cy="4572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15568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03320" y="111556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Content Format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61848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8FF"/>
                </a:solidFill>
              </a:rPr>
              <a:t>Prioritise Video and Reel formats - they outperform all others.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051560"/>
            <a:ext cx="2651760" cy="1600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051560"/>
            <a:ext cx="2651760" cy="4572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115568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111556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Posting Schedule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161848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8FF"/>
                </a:solidFill>
              </a:rPr>
              <a:t>Schedule posts on Saturday at 17:00 for peak engagement.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926080"/>
            <a:ext cx="2651760" cy="1600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926080"/>
            <a:ext cx="265176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990088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299008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Hashtag Strategy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49300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8FF"/>
                </a:solidFill>
              </a:rPr>
              <a:t>Use 6-10 targeted hashtags per post for optimal reach.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926080"/>
            <a:ext cx="2651760" cy="1600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2926080"/>
            <a:ext cx="2651760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990088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703320" y="299008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Emoji Usage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349300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8FF"/>
                </a:solidFill>
              </a:rPr>
              <a:t>Always include 1-3 emojis - boosts engagement by ~12%.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80760" y="2926080"/>
            <a:ext cx="2651760" cy="1600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80760" y="2926080"/>
            <a:ext cx="265176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990088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83680" y="299008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Category Focus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0" y="349300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8FF"/>
                </a:solidFill>
              </a:rPr>
              <a:t>Invest in Tech and Fitness content - highest performing categories.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1920240" cy="5029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704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Python 3.11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C"/>
                </a:solidFill>
              </a:rPr>
              <a:t>Core language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1097280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1097280"/>
            <a:ext cx="1920240" cy="502920"/>
          </a:xfrm>
          <a:prstGeom prst="rect">
            <a:avLst/>
          </a:prstGeom>
          <a:solidFill>
            <a:srgbClr val="1E1E3C"/>
          </a:solidFill>
          <a:ln w="12700">
            <a:solidFill>
              <a:srgbClr val="1E1E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1704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Pandas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17373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C"/>
                </a:solidFill>
              </a:rPr>
              <a:t>Data manipulation &amp; cleaning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17720" y="1097280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097280"/>
            <a:ext cx="1920240" cy="5029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1704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Matplotlib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17373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C"/>
                </a:solidFill>
              </a:rPr>
              <a:t>Static visualisations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66560" y="1097280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1097280"/>
            <a:ext cx="1920240" cy="50292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1704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Seaborn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17373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C"/>
                </a:solidFill>
              </a:rPr>
              <a:t>Statistical charts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880360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880360"/>
            <a:ext cx="1920240" cy="5029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9535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Plotly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35204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C"/>
                </a:solidFill>
              </a:rPr>
              <a:t>Interactive dashboard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68880" y="2880360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68880" y="2880360"/>
            <a:ext cx="192024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29535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ReportLab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560320" y="35204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C"/>
                </a:solidFill>
              </a:rPr>
              <a:t>PDF report generation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17720" y="2880360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2880360"/>
            <a:ext cx="192024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29535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Jupyter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09160" y="35204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C"/>
                </a:solidFill>
              </a:rPr>
              <a:t>Analysis notebook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766560" y="2880360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66560" y="2880360"/>
            <a:ext cx="1920240" cy="50292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29535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GitHub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58000" y="35204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C"/>
                </a:solidFill>
              </a:rPr>
              <a:t>Version control &amp; portfolio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 &amp; Deliverables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3749040"/>
          </a:xfrm>
          <a:prstGeom prst="rect">
            <a:avLst/>
          </a:prstGeom>
          <a:solidFill>
            <a:srgbClr val="1E1E3C"/>
          </a:solidFill>
          <a:ln w="12700">
            <a:solidFill>
              <a:srgbClr val="1E1E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4D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social-media-analytics-portfolio/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D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data/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D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├── generate_dataset.py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D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social_media_data.csv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D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notebooks/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D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social_media_analysis.ipynb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D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src/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D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├── analysis_helpers.py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D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├── generate_report.py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D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dashboard.py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D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visualizations/  (8 charts)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D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reports/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D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├── social_media_report.pdf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D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dashboard.html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D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README.md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D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 requirements.txt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0" y="1051560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0" y="1051560"/>
            <a:ext cx="594360" cy="62179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051560"/>
            <a:ext cx="594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40680" y="1097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3C"/>
                </a:solidFill>
              </a:rPr>
              <a:t>Jupyter Notebook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40680" y="13716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12 analysis cells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801368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801368"/>
            <a:ext cx="594360" cy="62179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801368"/>
            <a:ext cx="594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VZ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40680" y="18470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3C"/>
                </a:solidFill>
              </a:rPr>
              <a:t>8 Visualisations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40680" y="21214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Static PNG charts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551176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551176"/>
            <a:ext cx="59436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551176"/>
            <a:ext cx="594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PF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40680" y="25968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3C"/>
                </a:solidFill>
              </a:rPr>
              <a:t>PDF Report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40680" y="28712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11 pages, professional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3300984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300984"/>
            <a:ext cx="594360" cy="62179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300984"/>
            <a:ext cx="594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40680" y="33467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3C"/>
                </a:solidFill>
              </a:rPr>
              <a:t>Interactive Dashboard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40680" y="36210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Plotly HTML dashboard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4050792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4050792"/>
            <a:ext cx="594360" cy="62179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4050792"/>
            <a:ext cx="594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40680" y="40965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3C"/>
                </a:solidFill>
              </a:rPr>
              <a:t>GitHub Portfolio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40680" y="43708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Full repo with docs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4D2FF"/>
                </a:solidFill>
              </a:rPr>
              <a:t>Social Media Analytics Portfolio — 2024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43000" y="3017520"/>
            <a:ext cx="1463040" cy="11887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09067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2,000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36576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D2FF"/>
                </a:solidFill>
              </a:rPr>
              <a:t>Posts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80360" y="3017520"/>
            <a:ext cx="1463040" cy="11887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309067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880360" y="36576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D2FF"/>
                </a:solidFill>
              </a:rPr>
              <a:t>Platforms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3017520"/>
            <a:ext cx="1463040" cy="11887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309067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17720" y="36576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D2FF"/>
                </a:solidFill>
              </a:rPr>
              <a:t>Charts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5080" y="3017520"/>
            <a:ext cx="1463040" cy="11887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309067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355080" y="36576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D2FF"/>
                </a:solidFill>
              </a:rPr>
              <a:t>PDF Pages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Built with Python  |  Pandas  |  Matplotlib  |  Plotly  |  ReportLab  |  GitHub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Media Analytics Portfolio 2024</dc:title>
  <dc:subject>PptxGenJS Presentation</dc:subject>
  <dc:creator>PptxGenJS</dc:creator>
  <cp:lastModifiedBy>PptxGenJS</cp:lastModifiedBy>
  <cp:revision>1</cp:revision>
  <dcterms:created xsi:type="dcterms:W3CDTF">2026-03-05T08:35:51Z</dcterms:created>
  <dcterms:modified xsi:type="dcterms:W3CDTF">2026-03-05T08:35:51Z</dcterms:modified>
</cp:coreProperties>
</file>